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17"/>
    <p:sldId id="267" r:id="rId18"/>
    <p:sldId id="268" r:id="rId19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56032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4" name="Shape 2"/>
          <p:cNvSpPr/>
          <p:nvPr/>
        </p:nvSpPr>
        <p:spPr>
          <a:xfrm>
            <a:off x="5532120" y="1051560"/>
            <a:ext cx="1097280" cy="1097280"/>
          </a:xfrm>
          <a:prstGeom prst="ellipse">
            <a:avLst/>
          </a:prstGeom>
          <a:solidFill>
            <a:srgbClr val="8FB65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13" y="133685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317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B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🌲 PINE 2기 · 7회차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에이전트 · 메모리 · RAG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37947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AI를 연결하고, 기억하게 하고, 검색까지 시킨다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B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유스AI프로젝트:D</a:t>
            </a:r>
            <a:pPr algn="ctr" indent="0" marL="0">
              <a:buNone/>
            </a:pPr>
            <a:r>
              <a:rPr lang="en-US" sz="1300" dirty="0">
                <a:solidFill>
                  <a:srgbClr val="9DB0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Microsoft Agent Framework · APIM Foundry Proxy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TODAY'S JOURNEY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여정 · 90분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75488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9851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· 개념 + 코드 데모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83080" y="2240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2788920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ECF2E4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788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2880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브릿지 — 6회차 → 오늘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" y="3447288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ECF2E4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44728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828800" y="34472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에이전트 3패턴 + 라이브 데모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14400" y="4105656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ECF2E4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1056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828800" y="41056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메모리 (기억하는 AI)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14400" y="4764024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ECF2E4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47640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828800" y="47640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— 오늘의 핵심 ⭐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14400" y="5422392"/>
            <a:ext cx="777240" cy="457200"/>
          </a:xfrm>
          <a:prstGeom prst="roundRect">
            <a:avLst>
              <a:gd name="adj" fmla="val 16000"/>
            </a:avLst>
          </a:prstGeom>
          <a:solidFill>
            <a:srgbClr val="ECF2E4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54223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828800" y="5422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 &amp; Copilot 안내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0" y="1554480"/>
            <a:ext cx="5120640" cy="47548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0" y="1554480"/>
            <a:ext cx="82296" cy="475488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28" name="Shape 25"/>
          <p:cNvSpPr/>
          <p:nvPr/>
        </p:nvSpPr>
        <p:spPr>
          <a:xfrm>
            <a:off x="6629400" y="1783080"/>
            <a:ext cx="777240" cy="777240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82" y="1985162"/>
            <a:ext cx="373075" cy="37307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54380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2부 · 숙제 실습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7543800" y="2240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67512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학교 생활 도우미 만들기</a:t>
            </a:r>
            <a:endParaRPr lang="en-US" sz="1900" dirty="0"/>
          </a:p>
        </p:txBody>
      </p:sp>
      <p:sp>
        <p:nvSpPr>
          <p:cNvPr id="33" name="Text 29"/>
          <p:cNvSpPr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Copilot</a:t>
            </a:r>
            <a:pPr indent="0" marL="0">
              <a:buNone/>
            </a:pPr>
            <a:r>
              <a:rPr lang="en-US" sz="14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함께 스스로 코드를 완성!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6903720" y="3977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RAG로 우리 학교 정보 검색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6903720" y="45445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3개 답변 테스트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903720" y="5111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보너스 🌐 Gradio 웹 UI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RECAP 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6회차에서 배운 것 → 오늘 하는 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8813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82296" cy="932688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82496"/>
            <a:ext cx="585216" cy="585216"/>
          </a:xfrm>
          <a:prstGeom prst="ellipse">
            <a:avLst/>
          </a:prstGeom>
          <a:solidFill>
            <a:srgbClr val="8FB65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836" y="1834652"/>
            <a:ext cx="280904" cy="280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6회차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00200" y="18562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작가·편집자를 손으로 이어붙임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0" y="1764792"/>
            <a:ext cx="420624" cy="420624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962" y="1874154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A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583680" y="18562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SequentialBuilder로 자동 파이프라인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2542032"/>
            <a:ext cx="108813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542032"/>
            <a:ext cx="82296" cy="932688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2715768"/>
            <a:ext cx="585216" cy="585216"/>
          </a:xfrm>
          <a:prstGeom prst="ellipse">
            <a:avLst/>
          </a:prstGeom>
          <a:solidFill>
            <a:srgbClr val="8FB65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36" y="2867924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6회차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600200" y="28895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WorkflowBuilder 첫 경험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943600" y="2798064"/>
            <a:ext cx="420624" cy="420624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962" y="2907426"/>
            <a:ext cx="201900" cy="201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8368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A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583680" y="2889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Sequential·Concurrent·GroupChat 전용 빌더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40080" y="3575304"/>
            <a:ext cx="108813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3575304"/>
            <a:ext cx="82296" cy="932688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27" name="Shape 21"/>
          <p:cNvSpPr/>
          <p:nvPr/>
        </p:nvSpPr>
        <p:spPr>
          <a:xfrm>
            <a:off x="868680" y="3749040"/>
            <a:ext cx="585216" cy="585216"/>
          </a:xfrm>
          <a:prstGeom prst="ellipse">
            <a:avLst/>
          </a:prstGeom>
          <a:solidFill>
            <a:srgbClr val="8FB65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36" y="3901196"/>
            <a:ext cx="280904" cy="2809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3685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6회차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600200" y="39227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tool() 도구 등록 · ReAct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943600" y="3831336"/>
            <a:ext cx="420624" cy="420624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2962" y="3940698"/>
            <a:ext cx="201900" cy="2019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83680" y="3685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A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583680" y="39227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@tool로 검색 도구 → RAG에 연결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640080" y="4608576"/>
            <a:ext cx="1088136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0080" y="4608576"/>
            <a:ext cx="82296" cy="932688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37" name="Shape 29"/>
          <p:cNvSpPr/>
          <p:nvPr/>
        </p:nvSpPr>
        <p:spPr>
          <a:xfrm>
            <a:off x="868680" y="4782312"/>
            <a:ext cx="585216" cy="585216"/>
          </a:xfrm>
          <a:prstGeom prst="ellipse">
            <a:avLst/>
          </a:prstGeom>
          <a:solidFill>
            <a:srgbClr val="8FB65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836" y="4934468"/>
            <a:ext cx="280904" cy="28090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600200" y="4718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6회차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600200" y="49560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꼬맨틀: 임베딩으로 단어 유사도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5943600" y="4864608"/>
            <a:ext cx="420624" cy="420624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2962" y="4973970"/>
            <a:ext cx="201900" cy="2019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583680" y="4718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A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6583680" y="4956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RAG: 임베딩으로 질문↔문서 유사도</a:t>
            </a:r>
            <a:endParaRPr lang="en-US" sz="1400" dirty="0"/>
          </a:p>
        </p:txBody>
      </p:sp>
      <p:sp>
        <p:nvSpPr>
          <p:cNvPr id="45" name="Shape 35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16331A"/>
          </a:solidFill>
          <a:ln/>
        </p:spPr>
      </p:sp>
      <p:sp>
        <p:nvSpPr>
          <p:cNvPr id="46" name="Text 36"/>
          <p:cNvSpPr/>
          <p:nvPr/>
        </p:nvSpPr>
        <p:spPr>
          <a:xfrm>
            <a:off x="640080" y="580644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핵심 다리: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꼬맨틀은 ‘단어 유사도’, RAG는 ‘문서 유사도’ — 똑같은 임베딩이에요!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여러 개를 협업시키는 3가지 방법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502152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44805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1920240"/>
            <a:ext cx="914400" cy="9144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72" y="21579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7180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Sequential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364992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 파이프라인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188720" y="3840480"/>
            <a:ext cx="2404872" cy="0"/>
          </a:xfrm>
          <a:prstGeom prst="line">
            <a:avLst/>
          </a:prstGeom>
          <a:noFill/>
          <a:ln w="12700">
            <a:solidFill>
              <a:srgbClr val="D8E2C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9776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→ B → C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결과를 뒤로 전달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60120" y="5257800"/>
            <a:ext cx="2862072" cy="566928"/>
          </a:xfrm>
          <a:prstGeom prst="roundRect">
            <a:avLst>
              <a:gd name="adj" fmla="val 12903"/>
            </a:avLst>
          </a:prstGeom>
          <a:solidFill>
            <a:srgbClr val="ECF2E4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52578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</a:t>
            </a:r>
            <a:pPr algn="ctr" indent="0" marL="0">
              <a:buNone/>
            </a:pPr>
            <a:r>
              <a:rPr lang="en-US" sz="12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작가→편집자→검토자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25112" y="1600200"/>
            <a:ext cx="3502152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25112" y="1600200"/>
            <a:ext cx="82296" cy="44805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17" name="Shape 14"/>
          <p:cNvSpPr/>
          <p:nvPr/>
        </p:nvSpPr>
        <p:spPr>
          <a:xfrm>
            <a:off x="5623560" y="1920240"/>
            <a:ext cx="914400" cy="9144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157984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25112" y="297180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Concurrent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325112" y="3364992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병렬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873752" y="3840480"/>
            <a:ext cx="2404872" cy="0"/>
          </a:xfrm>
          <a:prstGeom prst="line">
            <a:avLst/>
          </a:prstGeom>
          <a:noFill/>
          <a:ln w="12700">
            <a:solidFill>
              <a:srgbClr val="D8E2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45152" y="39776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B · C 동시 실행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다른 관점 → 합산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645152" y="5257800"/>
            <a:ext cx="2862072" cy="566928"/>
          </a:xfrm>
          <a:prstGeom prst="roundRect">
            <a:avLst>
              <a:gd name="adj" fmla="val 12903"/>
            </a:avLst>
          </a:prstGeom>
          <a:solidFill>
            <a:srgbClr val="ECF2E4"/>
          </a:solidFill>
          <a:ln/>
        </p:spPr>
      </p:sp>
      <p:sp>
        <p:nvSpPr>
          <p:cNvPr id="24" name="Text 20"/>
          <p:cNvSpPr/>
          <p:nvPr/>
        </p:nvSpPr>
        <p:spPr>
          <a:xfrm>
            <a:off x="4645152" y="52578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</a:t>
            </a:r>
            <a:pPr algn="ctr" indent="0" marL="0">
              <a:buNone/>
            </a:pPr>
            <a:r>
              <a:rPr lang="en-US" sz="12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기술·시장·윤리 분석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010144" y="1600200"/>
            <a:ext cx="3502152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010144" y="1600200"/>
            <a:ext cx="82296" cy="44805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27" name="Shape 23"/>
          <p:cNvSpPr/>
          <p:nvPr/>
        </p:nvSpPr>
        <p:spPr>
          <a:xfrm>
            <a:off x="9308592" y="1920240"/>
            <a:ext cx="914400" cy="9144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2157984"/>
            <a:ext cx="438912" cy="4389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010144" y="297180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GroupChat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8010144" y="3364992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토론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558784" y="3840480"/>
            <a:ext cx="2404872" cy="0"/>
          </a:xfrm>
          <a:prstGeom prst="line">
            <a:avLst/>
          </a:prstGeom>
          <a:noFill/>
          <a:ln w="12700">
            <a:solidFill>
              <a:srgbClr val="D8E2C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330184" y="39776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발언을 듣고 대화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말할지 선택</a:t>
            </a:r>
            <a:endParaRPr lang="en-US" sz="1350" dirty="0"/>
          </a:p>
        </p:txBody>
      </p:sp>
      <p:sp>
        <p:nvSpPr>
          <p:cNvPr id="33" name="Shape 28"/>
          <p:cNvSpPr/>
          <p:nvPr/>
        </p:nvSpPr>
        <p:spPr>
          <a:xfrm>
            <a:off x="8330184" y="5257800"/>
            <a:ext cx="2862072" cy="566928"/>
          </a:xfrm>
          <a:prstGeom prst="roundRect">
            <a:avLst>
              <a:gd name="adj" fmla="val 12903"/>
            </a:avLst>
          </a:prstGeom>
          <a:solidFill>
            <a:srgbClr val="ECF2E4"/>
          </a:solidFill>
          <a:ln/>
        </p:spPr>
      </p:sp>
      <p:sp>
        <p:nvSpPr>
          <p:cNvPr id="34" name="Text 29"/>
          <p:cNvSpPr/>
          <p:nvPr/>
        </p:nvSpPr>
        <p:spPr>
          <a:xfrm>
            <a:off x="8330184" y="52578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</a:t>
            </a:r>
            <a:pPr algn="ctr" indent="0" marL="0">
              <a:buNone/>
            </a:pPr>
            <a:r>
              <a:rPr lang="en-US" sz="12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찬성·반대·중재 토론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17320" cy="310896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43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PATTERN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b="1">
                <a:solidFill>
                  <a:srgbClr val="183B1A"/>
                </a:solidFill>
                <a:latin typeface="Calibri"/>
              </a:rPr>
              <a:t>Sequential: 컨베이어벨트처럼 차례대로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64715B"/>
                </a:solidFill>
                <a:latin typeface="Calibri"/>
              </a:rPr>
              <a:t>앞 단계의 결과를 다음 단계가 이어받아 완성도를 높입니다.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84831"/>
            <a:ext cx="1993392" cy="12435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2860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362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9424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조사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96896"/>
            <a:ext cx="112471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t>자료 수집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88336" y="2542032"/>
            <a:ext cx="502920" cy="292608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084831"/>
            <a:ext cx="1993392" cy="12435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6432" y="22860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23362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249424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596896"/>
            <a:ext cx="112471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초안 만들기
읽기 쉽게 정리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21808" y="2542032"/>
            <a:ext cx="502920" cy="292608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25312" y="2084831"/>
            <a:ext cx="1993392" cy="12435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89904" y="22860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23362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249424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2596896"/>
            <a:ext cx="112471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오류·표현 점검
빠진 점 확인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55280" y="2542032"/>
            <a:ext cx="502920" cy="292608"/>
          </a:xfrm>
          <a:prstGeom prst="right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58784" y="2084831"/>
            <a:ext cx="1993392" cy="1243584"/>
          </a:xfrm>
          <a:prstGeom prst="roundRect">
            <a:avLst/>
          </a:prstGeom>
          <a:solidFill>
            <a:srgbClr val="EEF5E7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23376" y="22860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23376" y="23362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5" y="2249424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결과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5" y="2596896"/>
            <a:ext cx="1124712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최종 답변
보고서 완성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" y="3858768"/>
            <a:ext cx="5193792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0416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C5F2D"/>
                </a:solidFill>
                <a:latin typeface="Calibri"/>
              </a:rPr>
              <a:t>학교 예시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407408"/>
            <a:ext cx="457200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24301E"/>
                </a:solidFill>
                <a:latin typeface="Calibri"/>
              </a:rPr>
              <a:t>“진로 탐색 보고서를 만들어줘”
조사 → 작성 → 검토 순서로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1072" y="3858768"/>
            <a:ext cx="4919472" cy="1554480"/>
          </a:xfrm>
          <a:prstGeom prst="roundRect">
            <a:avLst/>
          </a:prstGeom>
          <a:solidFill>
            <a:srgbClr val="EEF5E7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404164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C5F2D"/>
                </a:solidFill>
                <a:latin typeface="Calibri"/>
              </a:rPr>
              <a:t>언제 쓰면 좋을까?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407408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24301E"/>
                </a:solidFill>
                <a:latin typeface="Calibri"/>
              </a:rPr>
              <a:t>순서가 중요한 일
단계가 진행될수록 결과물이 좋아지는 작업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" y="6053328"/>
            <a:ext cx="10789920" cy="411480"/>
          </a:xfrm>
          <a:prstGeom prst="roundRect">
            <a:avLst/>
          </a:prstGeom>
          <a:solidFill>
            <a:srgbClr val="183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6144768"/>
            <a:ext cx="10378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한 줄 기억: “앞 사람이 넘긴 결과를 다음 사람이 이어받는다.”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17320" cy="310896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43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PATTERN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b="1">
                <a:solidFill>
                  <a:srgbClr val="183B1A"/>
                </a:solidFill>
                <a:latin typeface="Calibri"/>
              </a:rPr>
              <a:t>Concurrent: 조별 과제처럼 동시에 나눠서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64715B"/>
                </a:solidFill>
                <a:latin typeface="Calibri"/>
              </a:rPr>
              <a:t>서로 기다릴 필요 없는 일을 병렬로 처리하고 마지막에 합칩니다.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764792"/>
            <a:ext cx="4407408" cy="713232"/>
          </a:xfrm>
          <a:prstGeom prst="roundRect">
            <a:avLst/>
          </a:prstGeom>
          <a:solidFill>
            <a:srgbClr val="183B1A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194767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공통 질문: “축제 부스 아이디어를 추천해줘”</a:t>
            </a:r>
          </a:p>
        </p:txBody>
      </p:sp>
      <p:sp>
        <p:nvSpPr>
          <p:cNvPr id="8" name="Down Arrow 7"/>
          <p:cNvSpPr/>
          <p:nvPr/>
        </p:nvSpPr>
        <p:spPr>
          <a:xfrm>
            <a:off x="2011680" y="2596896"/>
            <a:ext cx="384048" cy="384048"/>
          </a:xfrm>
          <a:prstGeom prst="down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063240"/>
            <a:ext cx="2743200" cy="1060704"/>
          </a:xfrm>
          <a:prstGeom prst="roundRect">
            <a:avLst/>
          </a:prstGeom>
          <a:solidFill>
            <a:srgbClr val="D9EC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3264408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3147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2783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기술 담당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75304"/>
            <a:ext cx="1874519" cy="493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AI로 가능한지
구현 난이도 확인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011680" y="4251960"/>
            <a:ext cx="384048" cy="384048"/>
          </a:xfrm>
          <a:prstGeom prst="down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394960" y="2596896"/>
            <a:ext cx="384048" cy="384048"/>
          </a:xfrm>
          <a:prstGeom prst="down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41648" y="3063240"/>
            <a:ext cx="2743200" cy="1060704"/>
          </a:xfrm>
          <a:prstGeom prst="roundRect">
            <a:avLst/>
          </a:prstGeom>
          <a:solidFill>
            <a:srgbClr val="FFE8C7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3264408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3147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2783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재미 담당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75304"/>
            <a:ext cx="1874519" cy="493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친구들이 좋아할
체험 요소 찾기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394960" y="4251960"/>
            <a:ext cx="384048" cy="384048"/>
          </a:xfrm>
          <a:prstGeom prst="down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8778240" y="2596896"/>
            <a:ext cx="384048" cy="384048"/>
          </a:xfrm>
          <a:prstGeom prst="down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24927" y="3063240"/>
            <a:ext cx="2743200" cy="1060704"/>
          </a:xfrm>
          <a:prstGeom prst="roundRect">
            <a:avLst/>
          </a:prstGeom>
          <a:solidFill>
            <a:srgbClr val="EDE7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9519" y="3264408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331470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322783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안전 담당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3575304"/>
            <a:ext cx="1874519" cy="493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위험 요소와
주의사항 확인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778240" y="4251960"/>
            <a:ext cx="384048" cy="384048"/>
          </a:xfrm>
          <a:prstGeom prst="downArrow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7560" y="4736592"/>
            <a:ext cx="5468112" cy="749808"/>
          </a:xfrm>
          <a:prstGeom prst="roundRect">
            <a:avLst/>
          </a:prstGeom>
          <a:solidFill>
            <a:srgbClr val="EEF5E7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496519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83B1A"/>
                </a:solidFill>
                <a:latin typeface="Calibri"/>
              </a:rPr>
              <a:t>종합 에이전트: 세 관점을 모아 실행 가능한 최종 아이디어 추천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6053328"/>
            <a:ext cx="10789920" cy="411480"/>
          </a:xfrm>
          <a:prstGeom prst="roundRect">
            <a:avLst/>
          </a:prstGeom>
          <a:solidFill>
            <a:srgbClr val="183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6144768"/>
            <a:ext cx="10378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한 줄 기억: “같은 질문을 여러 관점으로 동시에 조사한다.”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1417320" cy="310896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4343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PATTERN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58952"/>
            <a:ext cx="10927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b="1">
                <a:solidFill>
                  <a:srgbClr val="183B1A"/>
                </a:solidFill>
                <a:latin typeface="Calibri"/>
              </a:rPr>
              <a:t>GroupChat: AI 회의실에서 토론하기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64715B"/>
                </a:solidFill>
                <a:latin typeface="Calibri"/>
              </a:rPr>
              <a:t>여러 에이전트가 서로 의견을 듣고, 반박하고, 합의점을 찾습니다.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847088"/>
            <a:ext cx="4754880" cy="786384"/>
          </a:xfrm>
          <a:prstGeom prst="roundRect">
            <a:avLst/>
          </a:prstGeom>
          <a:solidFill>
            <a:srgbClr val="183B1A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2075688"/>
            <a:ext cx="4224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토론 주제: 수학여행 장소 고르기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999232"/>
            <a:ext cx="2359152" cy="1325880"/>
          </a:xfrm>
          <a:prstGeom prst="roundRect">
            <a:avLst/>
          </a:prstGeom>
          <a:solidFill>
            <a:srgbClr val="D9EC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32004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2506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3163824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예산 담당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511296"/>
            <a:ext cx="1490472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비용이 너무 높으면
안 된다고 주장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2999232"/>
            <a:ext cx="2359152" cy="1325880"/>
          </a:xfrm>
          <a:prstGeom prst="roundRect">
            <a:avLst/>
          </a:prstGeom>
          <a:solidFill>
            <a:srgbClr val="FFE8C7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0479" y="32004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79" y="32506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163824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재미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11296"/>
            <a:ext cx="1490472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친구들이 좋아할
활동을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38544" y="2999232"/>
            <a:ext cx="2359152" cy="1325880"/>
          </a:xfrm>
          <a:prstGeom prst="roundRect">
            <a:avLst/>
          </a:prstGeom>
          <a:solidFill>
            <a:srgbClr val="EDE7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03136" y="32004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32506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5" y="3163824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안전 담당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3511296"/>
            <a:ext cx="1490472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이동 거리와
안전을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999232"/>
            <a:ext cx="2359152" cy="1325880"/>
          </a:xfrm>
          <a:prstGeom prst="roundRect">
            <a:avLst/>
          </a:prstGeom>
          <a:solidFill>
            <a:srgbClr val="EEF5E7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65792" y="3200400"/>
            <a:ext cx="438912" cy="43891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5792" y="325069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3163824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183B1A"/>
                </a:solidFill>
                <a:latin typeface="Calibri"/>
              </a:rPr>
              <a:t>사회자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4432" y="3511296"/>
            <a:ext cx="1490472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80" b="0">
                <a:solidFill>
                  <a:srgbClr val="24301E"/>
                </a:solidFill>
                <a:latin typeface="Calibri"/>
              </a:rPr>
              <a:t>의견을 정리하고
최종 결론 도출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828032"/>
            <a:ext cx="9985248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E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448" y="5056632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2C5F2D"/>
                </a:solidFill>
                <a:latin typeface="Calibri"/>
              </a:rPr>
              <a:t>언제 쓰면 좋을까?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6352" y="5056632"/>
            <a:ext cx="769924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24301E"/>
                </a:solidFill>
                <a:latin typeface="Calibri"/>
              </a:rPr>
              <a:t>정답이 하나가 아니라 토론·합의·아이디어 발전이 중요한 문제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6053328"/>
            <a:ext cx="10789920" cy="411480"/>
          </a:xfrm>
          <a:prstGeom prst="roundRect">
            <a:avLst/>
          </a:prstGeom>
          <a:solidFill>
            <a:srgbClr val="183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6144768"/>
            <a:ext cx="10378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한 줄 기억: “여러 AI가 회의하며 서로의 생각을 고친다.”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시간엔 손으로, 오늘은 자동으로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40233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5C6B5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197620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47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B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6회차 · 수동 (.run 여러 번)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2560320"/>
            <a:ext cx="4709160" cy="2788920"/>
          </a:xfrm>
          <a:prstGeom prst="rect">
            <a:avLst/>
          </a:prstGeom>
          <a:solidFill>
            <a:srgbClr val="1E2B1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69748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  = await writer.run(topic)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feedback= await editor.run(draft.text)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  = await writer.run(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draft + feedback.text)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단계마다 직접 이어붙여야 함 😥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40233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00200"/>
            <a:ext cx="82296" cy="40233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14" name="Shape 11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1976201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847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7회차 · 자동 (SequentialBuilder)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537960" y="2560320"/>
            <a:ext cx="4709160" cy="2788920"/>
          </a:xfrm>
          <a:prstGeom prst="rect">
            <a:avLst/>
          </a:prstGeom>
          <a:solidFill>
            <a:srgbClr val="1E2B1C"/>
          </a:solidFill>
          <a:ln/>
        </p:spPr>
      </p:sp>
      <p:sp>
        <p:nvSpPr>
          <p:cNvPr id="18" name="Text 14"/>
          <p:cNvSpPr/>
          <p:nvPr/>
        </p:nvSpPr>
        <p:spPr>
          <a:xfrm>
            <a:off x="6675120" y="269748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= SequentialBuilder(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participants=[writer, editor, reviewer]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).build()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flow.run(topic)  # 한 줄로 끝! ✨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👉 같은 작가·편집자인데, 연결을 프레임워크가 대신 해줍니다.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MEMORY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이전 대화를 기억하게 하기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2578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320040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C0563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7144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47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6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없이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“나는 지민이야”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“안녕 지민!”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“내 이름이 뭐야?”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056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“모르겠어요…” 😅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257800" cy="32004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600200"/>
            <a:ext cx="82296" cy="320040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19714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847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있이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62940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“나는 지민이야”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“안녕 지민!”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“내 이름이 뭐야?”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“지민이라고 했죠!” ✅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" y="5029200"/>
            <a:ext cx="10881360" cy="1234440"/>
          </a:xfrm>
          <a:prstGeom prst="rect">
            <a:avLst/>
          </a:prstGeom>
          <a:solidFill>
            <a:srgbClr val="1E2B1C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5138928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A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agent.create_session()</a:t>
            </a:r>
            <a:pPr indent="0" marL="0">
              <a:buNone/>
            </a:pPr>
            <a:r>
              <a:rPr lang="en-US" sz="1500" dirty="0">
                <a:solidFill>
                  <a:srgbClr val="9DB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await 없음! (동기 함수)
</a:t>
            </a:r>
            <a:pPr indent="0" marL="0"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agent.run(msg, </a:t>
            </a:r>
            <a:pPr indent="0" marL="0">
              <a:buNone/>
            </a:pPr>
            <a:r>
              <a:rPr lang="en-US" sz="1500" dirty="0">
                <a:solidFill>
                  <a:srgbClr val="E0A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session=session</a:t>
            </a:r>
            <a:pPr indent="0" marL="0">
              <a:buNone/>
            </a:pPr>
            <a:r>
              <a:rPr lang="en-US" sz="1500" dirty="0">
                <a:solidFill>
                  <a:srgbClr val="9DB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대화 이력 유지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검색(Retrieve) + 생성(Generate) = 오픈북 시험 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331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74520"/>
            <a:ext cx="82296" cy="228600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2103120"/>
            <a:ext cx="685800" cy="685800"/>
          </a:xfrm>
          <a:prstGeom prst="ellipse">
            <a:avLst/>
          </a:prstGeom>
          <a:solidFill>
            <a:srgbClr val="8FB65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22814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310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“동아리 언제 해?”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182112" y="2788920"/>
            <a:ext cx="384048" cy="384048"/>
          </a:xfrm>
          <a:prstGeom prst="ellipse">
            <a:avLst/>
          </a:prstGeom>
          <a:solidFill>
            <a:srgbClr val="ECF2E4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964" y="2888772"/>
            <a:ext cx="184343" cy="18434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566160" y="1874520"/>
            <a:ext cx="2331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66160" y="1874520"/>
            <a:ext cx="82296" cy="228600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15" name="Shape 11"/>
          <p:cNvSpPr/>
          <p:nvPr/>
        </p:nvSpPr>
        <p:spPr>
          <a:xfrm>
            <a:off x="4389120" y="2103120"/>
            <a:ext cx="685800" cy="685800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22814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703320" y="3310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문서 찾기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71032" y="2788920"/>
            <a:ext cx="384048" cy="384048"/>
          </a:xfrm>
          <a:prstGeom prst="ellipse">
            <a:avLst/>
          </a:prstGeom>
          <a:solidFill>
            <a:srgbClr val="ECF2E4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884" y="2888772"/>
            <a:ext cx="184343" cy="184343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355080" y="1874520"/>
            <a:ext cx="2331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55080" y="1874520"/>
            <a:ext cx="82296" cy="228600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23" name="Shape 17"/>
          <p:cNvSpPr/>
          <p:nvPr/>
        </p:nvSpPr>
        <p:spPr>
          <a:xfrm>
            <a:off x="7178040" y="2103120"/>
            <a:ext cx="685800" cy="685800"/>
          </a:xfrm>
          <a:prstGeom prst="ellipse">
            <a:avLst/>
          </a:prstGeom>
          <a:solidFill>
            <a:srgbClr val="6E9A3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228142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55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6492240" y="3310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정보 문서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759952" y="2788920"/>
            <a:ext cx="384048" cy="384048"/>
          </a:xfrm>
          <a:prstGeom prst="ellipse">
            <a:avLst/>
          </a:prstGeom>
          <a:solidFill>
            <a:srgbClr val="ECF2E4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804" y="2888772"/>
            <a:ext cx="184343" cy="184343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144000" y="1874520"/>
            <a:ext cx="23317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9144000" y="1874520"/>
            <a:ext cx="82296" cy="228600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31" name="Shape 23"/>
          <p:cNvSpPr/>
          <p:nvPr/>
        </p:nvSpPr>
        <p:spPr>
          <a:xfrm>
            <a:off x="9966960" y="2103120"/>
            <a:ext cx="685800" cy="68580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5268" y="2281428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440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800" dirty="0"/>
          </a:p>
        </p:txBody>
      </p:sp>
      <p:sp>
        <p:nvSpPr>
          <p:cNvPr id="34" name="Text 25"/>
          <p:cNvSpPr/>
          <p:nvPr/>
        </p:nvSpPr>
        <p:spPr>
          <a:xfrm>
            <a:off x="9281160" y="3310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근거로 생성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777240" y="461772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100584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LLM
</a:t>
            </a:r>
            <a:pPr indent="0" marL="0">
              <a:buNone/>
            </a:pPr>
            <a:r>
              <a:rPr lang="en-US" sz="14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 정보는 잘 모르겠어요…”</a:t>
            </a:r>
            <a:endParaRPr lang="en-US" sz="1500" dirty="0"/>
          </a:p>
        </p:txBody>
      </p:sp>
      <p:sp>
        <p:nvSpPr>
          <p:cNvPr id="37" name="Shape 28"/>
          <p:cNvSpPr/>
          <p:nvPr/>
        </p:nvSpPr>
        <p:spPr>
          <a:xfrm>
            <a:off x="6309360" y="4617720"/>
            <a:ext cx="5212080" cy="1508760"/>
          </a:xfrm>
          <a:prstGeom prst="roundRect">
            <a:avLst>
              <a:gd name="adj" fmla="val 6061"/>
            </a:avLst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653796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에이전트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“동아리는 수요일 4시, 컴퓨터실이에요!” ✅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 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RAG의 심장 = 6회차에 쓴 그 임베딩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37947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20240"/>
            <a:ext cx="603504" cy="603504"/>
          </a:xfrm>
          <a:prstGeom prst="ellipse">
            <a:avLst/>
          </a:prstGeom>
          <a:solidFill>
            <a:srgbClr val="8FB65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" y="2077151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9385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6회차 · 꼬맨틀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↔ 단어 유사도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“사과” ↔ “바나나”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유사도 0.71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14400" y="4160520"/>
            <a:ext cx="4709160" cy="1051560"/>
          </a:xfrm>
          <a:prstGeom prst="rect">
            <a:avLst/>
          </a:prstGeom>
          <a:solidFill>
            <a:srgbClr val="1E2B1C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1605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cos_sim(vec(w1), vec(w2))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61888" y="3291840"/>
            <a:ext cx="502920" cy="502920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647" y="3422599"/>
            <a:ext cx="241402" cy="2414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63640" y="1691640"/>
            <a:ext cx="5257800" cy="37947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691640"/>
            <a:ext cx="82296" cy="37947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18" name="Shape 14"/>
          <p:cNvSpPr/>
          <p:nvPr/>
        </p:nvSpPr>
        <p:spPr>
          <a:xfrm>
            <a:off x="6492240" y="1920240"/>
            <a:ext cx="603504" cy="603504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151" y="2077151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19385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7회차 · RAG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53796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↔ 문서 유사도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37960" y="3108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“급식 뭐야?” ↔ 학교문서들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가장 비슷한 문서 Top-3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537960" y="4160520"/>
            <a:ext cx="4709160" cy="1051560"/>
          </a:xfrm>
          <a:prstGeom prst="rect">
            <a:avLst/>
          </a:prstGeom>
          <a:solidFill>
            <a:srgbClr val="1E2B1C"/>
          </a:solidFill>
          <a:ln/>
        </p:spPr>
      </p:sp>
      <p:sp>
        <p:nvSpPr>
          <p:cNvPr id="24" name="Text 19"/>
          <p:cNvSpPr/>
          <p:nvPr/>
        </p:nvSpPr>
        <p:spPr>
          <a:xfrm>
            <a:off x="6675120" y="41605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cos_sim(vec(질문), vec(문서))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👉 대상만 ‘단어→문서’로 바뀌었을 뿐, 완전히 똑같은 원리!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9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@tool 하나면 에이전트가 알아서 검색한다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6766560" cy="4480560"/>
          </a:xfrm>
          <a:prstGeom prst="rect">
            <a:avLst/>
          </a:prstGeom>
          <a:solidFill>
            <a:srgbClr val="1E2B1C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0A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(approval_mode=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E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"never_require"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B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0A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search_school_info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(query: str) -&gt; str: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DB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"""학교 급식·동아리·규정 정보를 검색한다."""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embed_text(query)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sims = [cos_sim(q, d)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B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in DOCS]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top3(sims)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DB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가장 비슷한 문서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Agent(client,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0A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tools=[search_school_info]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45920"/>
            <a:ext cx="388620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35240" y="1645920"/>
            <a:ext cx="82296" cy="448056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1874520"/>
            <a:ext cx="548640" cy="548640"/>
          </a:xfrm>
          <a:prstGeom prst="ellipse">
            <a:avLst/>
          </a:prstGeom>
          <a:solidFill>
            <a:srgbClr val="E0A82E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486" y="201716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03920" y="1892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863840" y="2606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설명(docstring)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0" y="29260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글이 에이전트에게 ‘도구 설명서’가 됩니다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0" y="3721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호출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63840" y="404164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오면 에이전트가 스스로 도구를 부릅니다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0" y="4837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있는 답변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63840" y="5157216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문서에 기반해 답 → 환각(거짓말) ↓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56032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MISSION · 60분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숙제: AI 학교 생활 도우미 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486400" cy="4297680"/>
          </a:xfrm>
          <a:prstGeom prst="rect">
            <a:avLst/>
          </a:prstGeom>
          <a:solidFill>
            <a:srgbClr val="1E402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74520"/>
            <a:ext cx="91440" cy="4297680"/>
          </a:xfrm>
          <a:prstGeom prst="rect">
            <a:avLst/>
          </a:prstGeom>
          <a:solidFill>
            <a:srgbClr val="8FB65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필수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데이터 10개 이상 채우기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4930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+ @tool로 검색 구현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2428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3개 이상 답변 테스트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보너스: Gradio 웹 UI · Session 기억 · 멀티 에이전트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4937760" cy="4297680"/>
          </a:xfrm>
          <a:prstGeom prst="rect">
            <a:avLst/>
          </a:prstGeom>
          <a:solidFill>
            <a:srgbClr val="1E402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1874520"/>
            <a:ext cx="91440" cy="4297680"/>
          </a:xfrm>
          <a:prstGeom prst="rect">
            <a:avLst/>
          </a:prstGeom>
          <a:solidFill>
            <a:srgbClr val="E0A82E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8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Copilot 200% 쓰기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858000" y="27432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주석으로 원하는 걸 한국어로 쓰기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858000" y="34015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Copilot이 코드 제안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858000" y="40599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Chat에 “왜 에러 나?” 물어보기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0" y="47183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제안은 읽고 이해한 뒤 채택하기!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0" y="6355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B6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🌲 여러분, 오늘도 화이팅! 다음은 해커톤 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7회차 멀티에이전트·메모리·RAG</dc:title>
  <dc:subject>PptxGenJS Presentation</dc:subject>
  <dc:creator>PINE 2기</dc:creator>
  <cp:lastModifiedBy>PINE 2기</cp:lastModifiedBy>
  <cp:revision>1</cp:revision>
  <dcterms:created xsi:type="dcterms:W3CDTF">2026-07-08T09:08:39Z</dcterms:created>
  <dcterms:modified xsi:type="dcterms:W3CDTF">2026-07-08T09:08:39Z</dcterms:modified>
</cp:coreProperties>
</file>