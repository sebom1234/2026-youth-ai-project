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6" r:id="rId9"/>
    <p:sldId id="269" r:id="rId10"/>
    <p:sldId id="262" r:id="rId11"/>
    <p:sldId id="264" r:id="rId12"/>
    <p:sldId id="267" r:id="rId13"/>
    <p:sldId id="268" r:id="rId14"/>
    <p:sldId id="265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9" d="100"/>
          <a:sy n="129" d="100"/>
        </p:scale>
        <p:origin x="144" y="7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7096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200400" cy="3200400"/>
          </a:xfrm>
          <a:prstGeom prst="ellipse">
            <a:avLst/>
          </a:prstGeom>
          <a:solidFill>
            <a:srgbClr val="6366F1">
              <a:alpha val="30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06B6D4">
              <a:alpha val="25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0" y="-457200"/>
            <a:ext cx="1371600" cy="1371600"/>
          </a:xfrm>
          <a:prstGeom prst="ellipse">
            <a:avLst/>
          </a:prstGeom>
          <a:solidFill>
            <a:srgbClr val="A855F7">
              <a:alpha val="40000"/>
            </a:srgbClr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교육 시리즈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Agent</a:t>
            </a:r>
            <a:endParaRPr lang="en-US" sz="6000" dirty="0"/>
          </a:p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내가 만드는 똑똑한 AI 에이전트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57200" y="4297680"/>
            <a:ext cx="73152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4297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고등학생을 위한 AI 에이전트 입문 강의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에이전트란 무엇일까?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단순한 챗봇과는 다른, 스스로 일하는 AI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0233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402336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830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783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 챗봇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31520" y="246888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질문하면 답만 해줘요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도구를 못 써요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기억 없이 단발성으로 대답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행동을 스스로 못 정해요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663440" y="1554480"/>
            <a:ext cx="4023360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663440" y="1554480"/>
            <a:ext cx="402336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7830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120" y="1783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에이전트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4937760" y="246888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스스로 계획하고 실행해요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검색, 계산, API 등 도구 사용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대화 내용을 기억해요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에이전트가 협업 가능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LLM(거대 언어 모델) + 도구 + 기억 + 자율성 = AI 에이전트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프레임워크가 필요할까?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만들면 어려운 일들을 프레임워크가 대신 해줍니다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737360"/>
            <a:ext cx="640080" cy="64008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745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737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기억 관리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463040" y="22402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대화 내용을 어떻게 저장하고 다시 불러올까?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63440" y="146304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892040" y="1737360"/>
            <a:ext cx="640080" cy="6400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8745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1737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 연동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5669280" y="22402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검색, 계산기, 데이터베이스를 어떻게 연결할까?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320040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85800" y="3474720"/>
            <a:ext cx="640080" cy="64008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61188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4747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 협업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463040" y="39776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AI가 함께 일하려면 어떻게 해야 할까?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663440" y="320040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4892040" y="3474720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61188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69280" y="34747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안정성·보안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5669280" y="39776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잘못된 동작을 막고 안전하게 운영하려면?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프레임워크 = AI 에이전트를 쉽게 만들기 위한 도구 모음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프레임워크들이 있을까?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에이전트 개발을 도와주는 대표 프레임워크들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463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프레임워크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606040" y="14630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만든 곳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434840" y="14630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특징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9202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606040" y="19202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 커뮤니티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434840" y="19202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널리 쓰이는 LLM 앱 개발 도구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822960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24231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606040" y="24231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Research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434840" y="24231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에이전트가 대화하며 협업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2926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Kernel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606040" y="29260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434840" y="29260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기업용 AI 통합에 강한 SDK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3429000"/>
            <a:ext cx="822960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4360" y="34290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606040" y="34290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434840" y="34290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기반 에이전트 팀 구성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7200" y="3931920"/>
            <a:ext cx="8229600" cy="502920"/>
          </a:xfrm>
          <a:prstGeom prst="rect">
            <a:avLst/>
          </a:prstGeom>
          <a:solidFill>
            <a:srgbClr val="EEF2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94360" y="39319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Framework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2606040" y="39319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434840" y="39319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 + Semantic Kernel을 통합한 차세대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시간엔 Microsoft Agent Framework (MAF)를 배워봅시다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645920" cy="365760"/>
          </a:xfrm>
          <a:prstGeom prst="roundRect">
            <a:avLst>
              <a:gd name="adj" fmla="val 375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 2025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Framework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57200" y="2743200"/>
            <a:ext cx="73152" cy="16459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Microsoft가 만든 오픈소스 AI 에이전트 프레임워크</a:t>
            </a:r>
            <a:endParaRPr lang="en-US" sz="1400" dirty="0"/>
          </a:p>
          <a:p>
            <a:pPr marL="0" indent="0" algn="l">
              <a:buNone/>
            </a:pPr>
            <a:r>
              <a:rPr lang="en-US" sz="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기존의 AutoGen과 Semantic Kernel을 하나로 합쳐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 강력하고 쉽게 만들 수 있게 된 새 버전입니다.</a:t>
            </a:r>
            <a:endParaRPr lang="en-US" sz="1400" dirty="0"/>
          </a:p>
          <a:p>
            <a:pPr marL="0" indent="0" algn="l">
              <a:buNone/>
            </a:pPr>
            <a:r>
              <a:rPr lang="en-US" sz="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Python과 .NET 두 가지 언어를 모두 지원합니다.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0" y="914400"/>
            <a:ext cx="274320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18872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035040" y="1783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MAF의 구성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126480" y="2286000"/>
            <a:ext cx="320040" cy="3200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32" y="2359152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37960" y="22860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360920" y="22860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개별 에이전트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26480" y="2788920"/>
            <a:ext cx="320040" cy="3200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632" y="2862072"/>
            <a:ext cx="182880" cy="1828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537960" y="27889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7360920" y="27889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 연결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126480" y="3291840"/>
            <a:ext cx="320040" cy="3200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9632" y="3364992"/>
            <a:ext cx="182880" cy="1828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918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/ MCP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7360920" y="32918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도구 통합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6126480" y="3794760"/>
            <a:ext cx="320040" cy="3200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9632" y="3867912"/>
            <a:ext cx="182880" cy="18288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537960" y="37947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7360920" y="37947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대화 기억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learn.microsoft.com/agent-framework</a:t>
            </a:r>
            <a:endParaRPr lang="en-US" sz="1100" dirty="0"/>
          </a:p>
        </p:txBody>
      </p:sp>
      <p:sp>
        <p:nvSpPr>
          <p:cNvPr id="27" name="MCPNote"/>
          <p:cNvSpPr/>
          <p:nvPr/>
        </p:nvSpPr>
        <p:spPr>
          <a:xfrm>
            <a:off x="640080" y="4297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06B6D4"/>
                </a:solidFill>
                <a:latin typeface="Calibri" pitchFamily="34" charset="0"/>
                <a:ea typeface="Calibri" pitchFamily="34" charset="-122"/>
              </a:rPr>
              <a:t>MCP(Model Context Protocol): </a:t>
            </a: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</a:rPr>
              <a:t>외부 도구를 표준 방식으로 연결하는 규약이에요</a:t>
            </a:r>
            <a:endParaRPr lang="en-US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MAF를 쓰면 좋은 점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초보자에게도 친절하고, 전문가에게도 강력합니다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73152" cy="6400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417320" y="1600200"/>
            <a:ext cx="365760" cy="36576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328" y="1664208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2024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통합된 설계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920240" y="178308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AutoGen의 멀티 에이전트 + Semantic Kernel의 안정성을 합쳤어요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2157984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57200" y="2157984"/>
            <a:ext cx="73152" cy="6400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85800" y="21579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1417320" y="2295144"/>
            <a:ext cx="365760" cy="36576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1328" y="2359152"/>
            <a:ext cx="237744" cy="23774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920240" y="220370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모델 지원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1920240" y="247802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OpenAI, Azure OpenAI, Anthropic, Ollama 등 자유롭게 선택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457200" y="2852928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457200" y="2852928"/>
            <a:ext cx="73152" cy="64008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685800" y="28529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21" name="Shape 17"/>
          <p:cNvSpPr/>
          <p:nvPr/>
        </p:nvSpPr>
        <p:spPr>
          <a:xfrm>
            <a:off x="1417320" y="2990088"/>
            <a:ext cx="365760" cy="36576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1328" y="3054096"/>
            <a:ext cx="237744" cy="23774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920240" y="2898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워크플로우 시각화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1920240" y="317296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에이전트끼리의 연결을 그래프 형태로 직관적으로 표현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457200" y="3547872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457200" y="3547872"/>
            <a:ext cx="73152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685800" y="35478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28" name="Shape 23"/>
          <p:cNvSpPr/>
          <p:nvPr/>
        </p:nvSpPr>
        <p:spPr>
          <a:xfrm>
            <a:off x="1417320" y="3685032"/>
            <a:ext cx="365760" cy="365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1328" y="3749040"/>
            <a:ext cx="237744" cy="23774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920240" y="35935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엔터프라이즈급 안정성</a:t>
            </a:r>
            <a:endParaRPr lang="en-US" sz="1500" dirty="0"/>
          </a:p>
        </p:txBody>
      </p:sp>
      <p:sp>
        <p:nvSpPr>
          <p:cNvPr id="31" name="Text 25"/>
          <p:cNvSpPr/>
          <p:nvPr/>
        </p:nvSpPr>
        <p:spPr>
          <a:xfrm>
            <a:off x="1920240" y="386791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체크포인트, 사람의 승인, 오류 복구 같은 기능 내장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457200" y="4242816"/>
            <a:ext cx="8229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457200" y="4242816"/>
            <a:ext cx="73152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/>
          <p:nvPr/>
        </p:nvSpPr>
        <p:spPr>
          <a:xfrm>
            <a:off x="685800" y="42428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400" dirty="0"/>
          </a:p>
        </p:txBody>
      </p:sp>
      <p:sp>
        <p:nvSpPr>
          <p:cNvPr id="35" name="Shape 29"/>
          <p:cNvSpPr/>
          <p:nvPr/>
        </p:nvSpPr>
        <p:spPr>
          <a:xfrm>
            <a:off x="1417320" y="4379976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1328" y="4443984"/>
            <a:ext cx="237744" cy="237744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920240" y="42885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Python으로 쉽게</a:t>
            </a:r>
            <a:endParaRPr lang="en-US" sz="1500" dirty="0"/>
          </a:p>
        </p:txBody>
      </p:sp>
      <p:sp>
        <p:nvSpPr>
          <p:cNvPr id="38" name="Text 31"/>
          <p:cNvSpPr/>
          <p:nvPr/>
        </p:nvSpPr>
        <p:spPr>
          <a:xfrm>
            <a:off x="1920240" y="456285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몇 줄의 Python 코드로 나만의 에이전트를 만들 수 있어요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MAF는 이렇게 코드로 만듭니다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몇 줄로 첫 에이전트 만들기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57200" cy="4572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패키지 설치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6642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agent-framework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457200" cy="4572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2148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 생성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4414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ChatAgent(...)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457200" cy="4572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2926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 연결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2186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agent.tools = [...]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457200" cy="4572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5840" y="3703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39959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agent.run(query)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97680" y="1325880"/>
            <a:ext cx="4389120" cy="33832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434840" y="1463040"/>
            <a:ext cx="137160" cy="1371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17720" y="1463040"/>
            <a:ext cx="137160" cy="1371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800600" y="1463040"/>
            <a:ext cx="137160" cy="1371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my_first_agent.py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434840" y="1737360"/>
            <a:ext cx="4114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1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agent_framework </a:t>
            </a:r>
            <a:r>
              <a:rPr lang="en-US" sz="115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1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ChatAgent</a:t>
            </a:r>
            <a:endParaRPr lang="en-US" sz="1150" dirty="0"/>
          </a:p>
          <a:p>
            <a:pPr marL="0" indent="0" algn="l">
              <a:buNone/>
            </a:pPr>
            <a:r>
              <a:rPr lang="en-US" sz="115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1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agent_framework.openai </a:t>
            </a:r>
            <a:r>
              <a:rPr lang="en-US" sz="115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1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OpenAIChatClient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ChatAgent(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chat_client=OpenAIChatClient(),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</a:t>
            </a: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"공부도우미"</a:t>
            </a:r>
            <a:r>
              <a:rPr lang="en-US" sz="11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instructions=</a:t>
            </a: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"친절한 AI 튜터"</a:t>
            </a:r>
            <a:r>
              <a:rPr lang="en-US" sz="11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</a:t>
            </a:r>
            <a:r>
              <a:rPr lang="en-US" sz="115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11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agent.run(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"피타고라스 정리를 알려줘"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이렇게 짧은 코드로 진짜 AI 에이전트가 동작합니다!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ReAc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패턴: 생각과 행동을 하나로 엮다</a:t>
            </a:r>
            <a:endParaRPr lang="en-US" sz="3200"/>
          </a:p>
        </p:txBody>
      </p:sp>
      <p:sp>
        <p:nvSpPr>
          <p:cNvPr id="3" name="Subtitle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= Reasoning(추론) + Acting(행동) · 한 번의 '생각 → 행동 → 관찰'로 추론과 행동을 엮어요</a:t>
            </a:r>
            <a:endParaRPr lang="en-US" sz="1400"/>
          </a:p>
        </p:txBody>
      </p:sp>
      <p:sp>
        <p:nvSpPr>
          <p:cNvPr id="4" name="Node1"/>
          <p:cNvSpPr/>
          <p:nvPr/>
        </p:nvSpPr>
        <p:spPr>
          <a:xfrm>
            <a:off x="1225000" y="1500000"/>
            <a:ext cx="1350000" cy="13500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C7D2FE"/>
                </a:solidFill>
                <a:latin typeface="Calibri" pitchFamily="34" charset="0"/>
                <a:ea typeface="Calibri" pitchFamily="34" charset="-122"/>
              </a:rPr>
              <a:t>1</a:t>
            </a:r>
          </a:p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</a:rPr>
              <a:t>생각</a:t>
            </a:r>
          </a:p>
          <a:p>
            <a:pPr marL="0" indent="0" algn="ctr">
              <a:buNone/>
            </a:pPr>
            <a:r>
              <a:rPr lang="en-US" sz="1000">
                <a:solidFill>
                  <a:srgbClr val="E0E7FF"/>
                </a:solidFill>
                <a:latin typeface="Calibri" pitchFamily="34" charset="0"/>
                <a:ea typeface="Calibri" pitchFamily="34" charset="-122"/>
              </a:rPr>
              <a:t>Reasoning</a:t>
            </a:r>
            <a:endParaRPr lang="en-US" sz="1000"/>
          </a:p>
        </p:txBody>
      </p:sp>
      <p:sp>
        <p:nvSpPr>
          <p:cNvPr id="5" name="Node2"/>
          <p:cNvSpPr/>
          <p:nvPr/>
        </p:nvSpPr>
        <p:spPr>
          <a:xfrm>
            <a:off x="3897000" y="1500000"/>
            <a:ext cx="1350000" cy="135000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E9D5FF"/>
                </a:solidFill>
                <a:latin typeface="Calibri" pitchFamily="34" charset="0"/>
                <a:ea typeface="Calibri" pitchFamily="34" charset="-122"/>
              </a:rPr>
              <a:t>2</a:t>
            </a:r>
          </a:p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</a:rPr>
              <a:t>행동</a:t>
            </a:r>
          </a:p>
          <a:p>
            <a:pPr marL="0" indent="0" algn="ctr">
              <a:buNone/>
            </a:pPr>
            <a:r>
              <a:rPr lang="en-US" sz="1000">
                <a:solidFill>
                  <a:srgbClr val="F3E8FF"/>
                </a:solidFill>
                <a:latin typeface="Calibri" pitchFamily="34" charset="0"/>
                <a:ea typeface="Calibri" pitchFamily="34" charset="-122"/>
              </a:rPr>
              <a:t>Acting</a:t>
            </a:r>
            <a:endParaRPr lang="en-US" sz="1000"/>
          </a:p>
        </p:txBody>
      </p:sp>
      <p:sp>
        <p:nvSpPr>
          <p:cNvPr id="6" name="Node3"/>
          <p:cNvSpPr/>
          <p:nvPr/>
        </p:nvSpPr>
        <p:spPr>
          <a:xfrm>
            <a:off x="6569000" y="1500000"/>
            <a:ext cx="1350000" cy="13500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A5F3FC"/>
                </a:solidFill>
                <a:latin typeface="Calibri" pitchFamily="34" charset="0"/>
                <a:ea typeface="Calibri" pitchFamily="34" charset="-122"/>
              </a:rPr>
              <a:t>3</a:t>
            </a:r>
          </a:p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</a:rPr>
              <a:t>관찰</a:t>
            </a:r>
          </a:p>
          <a:p>
            <a:pPr marL="0" indent="0" algn="ctr">
              <a:buNone/>
            </a:pPr>
            <a:r>
              <a:rPr lang="en-US" sz="1000">
                <a:solidFill>
                  <a:srgbClr val="CFFAFE"/>
                </a:solidFill>
                <a:latin typeface="Calibri" pitchFamily="34" charset="0"/>
                <a:ea typeface="Calibri" pitchFamily="34" charset="-122"/>
              </a:rPr>
              <a:t>Observation</a:t>
            </a:r>
            <a:endParaRPr lang="en-US" sz="1000"/>
          </a:p>
        </p:txBody>
      </p:sp>
      <p:sp>
        <p:nvSpPr>
          <p:cNvPr id="7" name="Arrow1"/>
          <p:cNvSpPr/>
          <p:nvPr/>
        </p:nvSpPr>
        <p:spPr>
          <a:xfrm>
            <a:off x="2655000" y="1995000"/>
            <a:ext cx="1162000" cy="3600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Arrow2"/>
          <p:cNvSpPr/>
          <p:nvPr/>
        </p:nvSpPr>
        <p:spPr>
          <a:xfrm>
            <a:off x="5327000" y="1995000"/>
            <a:ext cx="1162000" cy="3600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Desc1"/>
          <p:cNvSpPr/>
          <p:nvPr/>
        </p:nvSpPr>
        <p:spPr>
          <a:xfrm>
            <a:off x="700000" y="2950000"/>
            <a:ext cx="24000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>
                <a:solidFill>
                  <a:srgbClr val="64748B"/>
                </a:solidFill>
                <a:latin typeface="Calibri" pitchFamily="34" charset="0"/>
                <a:ea typeface="Calibri" pitchFamily="34" charset="-122"/>
              </a:rPr>
              <a:t>무엇을 해야 할지 스스로 판단해요</a:t>
            </a:r>
            <a:endParaRPr lang="en-US" sz="1150"/>
          </a:p>
        </p:txBody>
      </p:sp>
      <p:sp>
        <p:nvSpPr>
          <p:cNvPr id="10" name="Desc2"/>
          <p:cNvSpPr/>
          <p:nvPr/>
        </p:nvSpPr>
        <p:spPr>
          <a:xfrm>
            <a:off x="3372000" y="2950000"/>
            <a:ext cx="24000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>
                <a:solidFill>
                  <a:srgbClr val="64748B"/>
                </a:solidFill>
                <a:latin typeface="Calibri" pitchFamily="34" charset="0"/>
                <a:ea typeface="Calibri" pitchFamily="34" charset="-122"/>
              </a:rPr>
              <a:t>검색·계산 도구를 직접 사용해요</a:t>
            </a:r>
            <a:endParaRPr lang="en-US" sz="1150"/>
          </a:p>
        </p:txBody>
      </p:sp>
      <p:sp>
        <p:nvSpPr>
          <p:cNvPr id="11" name="Desc3"/>
          <p:cNvSpPr/>
          <p:nvPr/>
        </p:nvSpPr>
        <p:spPr>
          <a:xfrm>
            <a:off x="6044000" y="2950000"/>
            <a:ext cx="24000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>
                <a:solidFill>
                  <a:srgbClr val="64748B"/>
                </a:solidFill>
                <a:latin typeface="Calibri" pitchFamily="34" charset="0"/>
                <a:ea typeface="Calibri" pitchFamily="34" charset="-122"/>
              </a:rPr>
              <a:t>결과를 확인하고 다음 행동을 정해요</a:t>
            </a:r>
            <a:endParaRPr lang="en-US" sz="1150"/>
          </a:p>
        </p:txBody>
      </p:sp>
      <p:sp>
        <p:nvSpPr>
          <p:cNvPr id="12" name="LoopArrow"/>
          <p:cNvSpPr/>
          <p:nvPr/>
        </p:nvSpPr>
        <p:spPr>
          <a:xfrm flipH="1">
            <a:off x="1861703" y="3310594"/>
            <a:ext cx="5468364" cy="759965"/>
          </a:xfrm>
          <a:prstGeom prst="leftArrow">
            <a:avLst>
              <a:gd name="adj1" fmla="val 45000"/>
              <a:gd name="adj2" fmla="val 40000"/>
            </a:avLst>
          </a:prstGeom>
          <a:solidFill>
            <a:srgbClr val="F59E0B"/>
          </a:solidFill>
          <a:ln>
            <a:noFill/>
          </a:ln>
        </p:spPr>
        <p:txBody>
          <a:bodyPr wrap="square" lIns="365760" tIns="0" rIns="91440" bIns="0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</a:rPr>
              <a:t>생각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</a:rPr>
              <a:t> ·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</a:rPr>
              <a:t>행동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</a:rPr>
              <a:t> ·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</a:rPr>
              <a:t>관찰이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</a:rPr>
              <a:t> 한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</a:rPr>
              <a:t>번의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</a:rPr>
              <a:t>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</a:rPr>
              <a:t>흐름으로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</a:rPr>
              <a:t>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</a:rPr>
              <a:t>이어져요</a:t>
            </a:r>
            <a:endParaRPr lang="en-US" sz="1300" dirty="0"/>
          </a:p>
        </p:txBody>
      </p:sp>
      <p:sp>
        <p:nvSpPr>
          <p:cNvPr id="20" name="ExampleCard"/>
          <p:cNvSpPr/>
          <p:nvPr/>
        </p:nvSpPr>
        <p:spPr>
          <a:xfrm>
            <a:off x="900000" y="4170000"/>
            <a:ext cx="7344000" cy="360000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ExampleText"/>
          <p:cNvSpPr/>
          <p:nvPr/>
        </p:nvSpPr>
        <p:spPr>
          <a:xfrm>
            <a:off x="1000000" y="4170000"/>
            <a:ext cx="7144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 err="1">
                <a:solidFill>
                  <a:srgbClr val="6366F1"/>
                </a:solidFill>
                <a:latin typeface="Calibri" pitchFamily="34" charset="0"/>
                <a:ea typeface="Calibri" pitchFamily="34" charset="-122"/>
              </a:rPr>
              <a:t>예시</a:t>
            </a: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</a:rPr>
              <a:t> 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</a:rPr>
              <a:t>'3+5는?' → </a:t>
            </a:r>
            <a:r>
              <a:rPr lang="en-US" sz="10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</a:rPr>
              <a:t>생각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</a:rPr>
              <a:t>(</a:t>
            </a:r>
            <a:r>
              <a:rPr lang="en-US" sz="10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</a:rPr>
              <a:t>계산이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</a:rPr>
              <a:t> </a:t>
            </a:r>
            <a:r>
              <a:rPr lang="en-US" sz="10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</a:rPr>
              <a:t>필요해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</a:rPr>
              <a:t>) → </a:t>
            </a:r>
            <a:r>
              <a:rPr lang="en-US" sz="10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</a:rPr>
              <a:t>행동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</a:rPr>
              <a:t>(</a:t>
            </a:r>
            <a:r>
              <a:rPr lang="en-US" sz="10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</a:rPr>
              <a:t>계산기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</a:rPr>
              <a:t> </a:t>
            </a:r>
            <a:r>
              <a:rPr lang="en-US" sz="10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</a:rPr>
              <a:t>호출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</a:rPr>
              <a:t>) → </a:t>
            </a:r>
            <a:r>
              <a:rPr lang="en-US" sz="10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</a:rPr>
              <a:t>관찰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</a:rPr>
              <a:t>(</a:t>
            </a:r>
            <a:r>
              <a:rPr lang="en-US" sz="10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</a:rPr>
              <a:t>결과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</a:rPr>
              <a:t> 8) → </a:t>
            </a:r>
            <a:r>
              <a:rPr lang="en-US" sz="105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</a:rPr>
              <a:t>답변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</a:rPr>
              <a:t>!</a:t>
            </a:r>
            <a:endParaRPr lang="en-US" sz="1050" dirty="0"/>
          </a:p>
        </p:txBody>
      </p:sp>
      <p:sp>
        <p:nvSpPr>
          <p:cNvPr id="13" name="Caption"/>
          <p:cNvSpPr/>
          <p:nvPr/>
        </p:nvSpPr>
        <p:spPr>
          <a:xfrm>
            <a:off x="457200" y="4620000"/>
            <a:ext cx="822960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</a:t>
            </a:r>
            <a:r>
              <a:rPr lang="en-US" sz="125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</a:t>
            </a:r>
            <a:r>
              <a:rPr lang="en-US" sz="1250" i="1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사이클을 목표를 이룰 때까지 반복하면? → 다음 장의 </a:t>
            </a:r>
            <a:r>
              <a:rPr lang="en-US" sz="125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</a:t>
            </a:r>
            <a:r>
              <a:rPr lang="en-US" sz="1250" i="1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 루프'예요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 루프: 목표를 이룰 때까지 반복</a:t>
            </a:r>
          </a:p>
        </p:txBody>
      </p:sp>
      <p:sp>
        <p:nvSpPr>
          <p:cNvPr id="3" name="Subtitle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앞 장의 한 사이클(ReAct)을 목표까지 반복하는 게 에이전트 루프 · 예: '오늘 뭐 입지?'</a:t>
            </a:r>
          </a:p>
        </p:txBody>
      </p:sp>
      <p:sp>
        <p:nvSpPr>
          <p:cNvPr id="10" name="H1"/>
          <p:cNvSpPr/>
          <p:nvPr/>
        </p:nvSpPr>
        <p:spPr>
          <a:xfrm>
            <a:off x="1320000" y="1360000"/>
            <a:ext cx="2380000" cy="330000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H1t"/>
          <p:cNvSpPr/>
          <p:nvPr/>
        </p:nvSpPr>
        <p:spPr>
          <a:xfrm>
            <a:off x="1320000" y="1360000"/>
            <a:ext cx="238000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생각  Thought</a:t>
            </a:r>
          </a:p>
        </p:txBody>
      </p:sp>
      <p:sp>
        <p:nvSpPr>
          <p:cNvPr id="12" name="H2"/>
          <p:cNvSpPr/>
          <p:nvPr/>
        </p:nvSpPr>
        <p:spPr>
          <a:xfrm>
            <a:off x="3800000" y="1360000"/>
            <a:ext cx="2380000" cy="330000"/>
          </a:xfrm>
          <a:prstGeom prst="roundRect">
            <a:avLst>
              <a:gd name="adj" fmla="val 25000"/>
            </a:avLst>
          </a:prstGeom>
          <a:solidFill>
            <a:srgbClr val="A855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H2t"/>
          <p:cNvSpPr/>
          <p:nvPr/>
        </p:nvSpPr>
        <p:spPr>
          <a:xfrm>
            <a:off x="3800000" y="1360000"/>
            <a:ext cx="238000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행동  Action</a:t>
            </a:r>
          </a:p>
        </p:txBody>
      </p:sp>
      <p:sp>
        <p:nvSpPr>
          <p:cNvPr id="14" name="H3"/>
          <p:cNvSpPr/>
          <p:nvPr/>
        </p:nvSpPr>
        <p:spPr>
          <a:xfrm>
            <a:off x="6280000" y="1360000"/>
            <a:ext cx="2400000" cy="33000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H3t"/>
          <p:cNvSpPr/>
          <p:nvPr/>
        </p:nvSpPr>
        <p:spPr>
          <a:xfrm>
            <a:off x="6280000" y="1360000"/>
            <a:ext cx="240000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관찰  Observation</a:t>
            </a:r>
          </a:p>
        </p:txBody>
      </p:sp>
      <p:sp>
        <p:nvSpPr>
          <p:cNvPr id="16" name="RL1"/>
          <p:cNvSpPr/>
          <p:nvPr/>
        </p:nvSpPr>
        <p:spPr>
          <a:xfrm>
            <a:off x="457200" y="1990000"/>
            <a:ext cx="760000" cy="440000"/>
          </a:xfrm>
          <a:prstGeom prst="roundRect">
            <a:avLst>
              <a:gd name="adj" fmla="val 30000"/>
            </a:avLst>
          </a:prstGeom>
          <a:solidFill>
            <a:srgbClr val="6366F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L1t"/>
          <p:cNvSpPr/>
          <p:nvPr/>
        </p:nvSpPr>
        <p:spPr>
          <a:xfrm>
            <a:off x="457200" y="1990000"/>
            <a:ext cx="76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1바퀴</a:t>
            </a:r>
          </a:p>
        </p:txBody>
      </p:sp>
      <p:sp>
        <p:nvSpPr>
          <p:cNvPr id="18" name="Cell"/>
          <p:cNvSpPr/>
          <p:nvPr/>
        </p:nvSpPr>
        <p:spPr>
          <a:xfrm>
            <a:off x="1320000" y="1760000"/>
            <a:ext cx="2380000" cy="9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8872" tIns="72000" rIns="91440" bIns="72000" rtlCol="0" anchor="ctr"/>
          <a:lstStyle/>
          <a:p>
            <a:pPr marL="0" indent="0" algn="l">
              <a:buNone/>
            </a:pPr>
            <a:r>
              <a:rPr lang="en-US" sz="1050" b="1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생각</a:t>
            </a:r>
          </a:p>
          <a:p>
            <a:pPr marL="0" indent="0" algn="l">
              <a:buNone/>
            </a:pPr>
            <a:r>
              <a:rPr lang="en-US" sz="115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날씨부터 알아봐야겠어</a:t>
            </a:r>
          </a:p>
        </p:txBody>
      </p:sp>
      <p:sp>
        <p:nvSpPr>
          <p:cNvPr id="19" name="Cell"/>
          <p:cNvSpPr/>
          <p:nvPr/>
        </p:nvSpPr>
        <p:spPr>
          <a:xfrm>
            <a:off x="3800000" y="1760000"/>
            <a:ext cx="2380000" cy="9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8872" tIns="72000" rIns="91440" bIns="72000" rtlCol="0" anchor="ctr"/>
          <a:lstStyle/>
          <a:p>
            <a:pPr marL="0" indent="0" algn="l">
              <a:buNone/>
            </a:pPr>
            <a:r>
              <a:rPr lang="en-US" sz="1050" b="1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행동</a:t>
            </a:r>
          </a:p>
          <a:p>
            <a:pPr marL="0" indent="0" algn="l">
              <a:buNone/>
            </a:pPr>
            <a:r>
              <a:rPr lang="en-US" sz="115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날씨 검색 도구 호출</a:t>
            </a:r>
          </a:p>
        </p:txBody>
      </p:sp>
      <p:sp>
        <p:nvSpPr>
          <p:cNvPr id="20" name="Cell"/>
          <p:cNvSpPr/>
          <p:nvPr/>
        </p:nvSpPr>
        <p:spPr>
          <a:xfrm>
            <a:off x="6280000" y="1760000"/>
            <a:ext cx="2400000" cy="9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8872" tIns="72000" rIns="91440" bIns="72000" rtlCol="0" anchor="ctr"/>
          <a:lstStyle/>
          <a:p>
            <a:pPr marL="0" indent="0" algn="l">
              <a:buNone/>
            </a:pPr>
            <a:r>
              <a:rPr lang="en-US" sz="1050" b="1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관찰</a:t>
            </a:r>
          </a:p>
          <a:p>
            <a:pPr marL="0" indent="0" algn="l">
              <a:buNone/>
            </a:pPr>
            <a:r>
              <a:rPr lang="en-US" sz="115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12°C · 비 올 확률 70%</a:t>
            </a:r>
          </a:p>
        </p:txBody>
      </p:sp>
      <p:sp>
        <p:nvSpPr>
          <p:cNvPr id="21" name="NoteBar"/>
          <p:cNvSpPr/>
          <p:nvPr/>
        </p:nvSpPr>
        <p:spPr>
          <a:xfrm>
            <a:off x="1320000" y="2720000"/>
            <a:ext cx="7360000" cy="200000"/>
          </a:xfrm>
          <a:prstGeom prst="roundRect">
            <a:avLst>
              <a:gd name="adj" fmla="val 40000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NoteT"/>
          <p:cNvSpPr/>
          <p:nvPr/>
        </p:nvSpPr>
        <p:spPr>
          <a:xfrm>
            <a:off x="1320000" y="2720000"/>
            <a:ext cx="736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아직 답이 부족해요  →  다시 한 바퀴!</a:t>
            </a:r>
          </a:p>
        </p:txBody>
      </p:sp>
      <p:sp>
        <p:nvSpPr>
          <p:cNvPr id="23" name="RL2"/>
          <p:cNvSpPr/>
          <p:nvPr/>
        </p:nvSpPr>
        <p:spPr>
          <a:xfrm>
            <a:off x="457200" y="3230000"/>
            <a:ext cx="760000" cy="440000"/>
          </a:xfrm>
          <a:prstGeom prst="roundRect">
            <a:avLst>
              <a:gd name="adj" fmla="val 30000"/>
            </a:avLst>
          </a:prstGeom>
          <a:solidFill>
            <a:srgbClr val="A855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RL2t"/>
          <p:cNvSpPr/>
          <p:nvPr/>
        </p:nvSpPr>
        <p:spPr>
          <a:xfrm>
            <a:off x="457200" y="3230000"/>
            <a:ext cx="76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2바퀴</a:t>
            </a:r>
          </a:p>
        </p:txBody>
      </p:sp>
      <p:sp>
        <p:nvSpPr>
          <p:cNvPr id="25" name="Cell"/>
          <p:cNvSpPr/>
          <p:nvPr/>
        </p:nvSpPr>
        <p:spPr>
          <a:xfrm>
            <a:off x="1320000" y="3000000"/>
            <a:ext cx="2380000" cy="9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8872" tIns="72000" rIns="91440" bIns="72000" rtlCol="0" anchor="ctr"/>
          <a:lstStyle/>
          <a:p>
            <a:pPr marL="0" indent="0" algn="l">
              <a:buNone/>
            </a:pPr>
            <a:r>
              <a:rPr lang="en-US" sz="1050" b="1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생각</a:t>
            </a:r>
          </a:p>
          <a:p>
            <a:pPr marL="0" indent="0" algn="l">
              <a:buNone/>
            </a:pPr>
            <a:r>
              <a:rPr lang="en-US" sz="115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쌀쌀하고 비 오네. 언제부터?</a:t>
            </a:r>
          </a:p>
        </p:txBody>
      </p:sp>
      <p:sp>
        <p:nvSpPr>
          <p:cNvPr id="26" name="Cell"/>
          <p:cNvSpPr/>
          <p:nvPr/>
        </p:nvSpPr>
        <p:spPr>
          <a:xfrm>
            <a:off x="3800000" y="3000000"/>
            <a:ext cx="2380000" cy="9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8872" tIns="72000" rIns="91440" bIns="72000" rtlCol="0" anchor="ctr"/>
          <a:lstStyle/>
          <a:p>
            <a:pPr marL="0" indent="0" algn="l">
              <a:buNone/>
            </a:pPr>
            <a:r>
              <a:rPr lang="en-US" sz="1050" b="1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행동</a:t>
            </a:r>
          </a:p>
          <a:p>
            <a:pPr marL="0" indent="0" algn="l">
              <a:buNone/>
            </a:pPr>
            <a:r>
              <a:rPr lang="en-US" sz="115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시간대별 강수 다시 확인</a:t>
            </a:r>
          </a:p>
        </p:txBody>
      </p:sp>
      <p:sp>
        <p:nvSpPr>
          <p:cNvPr id="27" name="Cell"/>
          <p:cNvSpPr/>
          <p:nvPr/>
        </p:nvSpPr>
        <p:spPr>
          <a:xfrm>
            <a:off x="6280000" y="3000000"/>
            <a:ext cx="2400000" cy="9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118872" tIns="72000" rIns="91440" bIns="72000" rtlCol="0" anchor="ctr"/>
          <a:lstStyle/>
          <a:p>
            <a:pPr marL="0" indent="0" algn="l">
              <a:buNone/>
            </a:pPr>
            <a:r>
              <a:rPr lang="en-US" sz="1050" b="1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관찰</a:t>
            </a:r>
          </a:p>
          <a:p>
            <a:pPr marL="0" indent="0" algn="l">
              <a:buNone/>
            </a:pPr>
            <a:r>
              <a:rPr lang="en-US" sz="115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오후 3시부터 비 시작</a:t>
            </a:r>
          </a:p>
        </p:txBody>
      </p:sp>
      <p:sp>
        <p:nvSpPr>
          <p:cNvPr id="28" name="AnsBar"/>
          <p:cNvSpPr/>
          <p:nvPr/>
        </p:nvSpPr>
        <p:spPr>
          <a:xfrm>
            <a:off x="457200" y="3980000"/>
            <a:ext cx="8229600" cy="52000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AnsT"/>
          <p:cNvSpPr/>
          <p:nvPr/>
        </p:nvSpPr>
        <p:spPr>
          <a:xfrm>
            <a:off x="577200" y="3980000"/>
            <a:ext cx="79896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답변  </a:t>
            </a:r>
            <a:r>
              <a:rPr lang="en-US" sz="1250">
                <a:solidFill>
                  <a:srgbClr val="ECF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얇은 겉옷을 입고 우산을 챙기세요! 오후부터 비가 와요.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MAF로 무엇을 만들 수 있나?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실제로 만들어 볼 수 있는 재미있는 프로젝트들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548640" cy="5486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81051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2860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공부 도우미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" y="2606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수학 문제 풀이, 영어 회화 연습, 과제 검토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68980" y="146304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497580" y="1691640"/>
            <a:ext cx="548640" cy="5486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6452" y="181051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97580" y="22860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코딩 멘토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497580" y="2606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설명, 오류 찾기, 새 기능 제안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080760" y="146304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309360" y="1691640"/>
            <a:ext cx="548640" cy="54864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8232" y="1810512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9360" y="22860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아이디어 브레인스토밍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309360" y="2606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에이전트가 토론하며 창의적 답 찾기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57200" y="320040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85800" y="3429000"/>
            <a:ext cx="548640" cy="5486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3547872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5800" y="40233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여행 플래너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85800" y="43434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검색·예약·일정 정리를 여러 에이전트가 분담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3268980" y="320040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3497580" y="342900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6452" y="3547872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497580" y="40233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업무 처리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3497580" y="43434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이메일 분류, 일정 정리, 문서 요약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080760" y="320040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6309360" y="3429000"/>
            <a:ext cx="548640" cy="54864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8232" y="3547872"/>
            <a:ext cx="310896" cy="31089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309360" y="40233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나만의 캐릭터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6309360" y="43434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역할극 NPC, 가상 친구, 게임 보조 AI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실습할 샘플 시나리오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노트북에서 단계별로 따라 해 봅시다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3192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6916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3611880" y="1737360"/>
            <a:ext cx="502920" cy="50292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2464" y="1837944"/>
            <a:ext cx="301752" cy="3017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2331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Hello, Agent!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85800" y="2651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번째 에이전트를 만들고 인사하기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663440" y="1463040"/>
            <a:ext cx="3931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663440" y="1463040"/>
            <a:ext cx="393192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892040" y="16916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400" dirty="0"/>
          </a:p>
        </p:txBody>
      </p:sp>
      <p:sp>
        <p:nvSpPr>
          <p:cNvPr id="14" name="Shape 11"/>
          <p:cNvSpPr/>
          <p:nvPr/>
        </p:nvSpPr>
        <p:spPr>
          <a:xfrm>
            <a:off x="7818120" y="1737360"/>
            <a:ext cx="502920" cy="5029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8704" y="1837944"/>
            <a:ext cx="301752" cy="30175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892040" y="2331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도구를 쓰는 에이전트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4892040" y="2651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계산기 함수를 호출하는 수학 도우미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57200" y="3200400"/>
            <a:ext cx="3931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457200" y="3200400"/>
            <a:ext cx="3931920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685800" y="34290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400" dirty="0"/>
          </a:p>
        </p:txBody>
      </p:sp>
      <p:sp>
        <p:nvSpPr>
          <p:cNvPr id="21" name="Shape 17"/>
          <p:cNvSpPr/>
          <p:nvPr/>
        </p:nvSpPr>
        <p:spPr>
          <a:xfrm>
            <a:off x="3611880" y="3474720"/>
            <a:ext cx="502920" cy="50292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2464" y="3575304"/>
            <a:ext cx="301752" cy="30175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85800" y="4069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에이전트의 협업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685800" y="4389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작가와 편집자 에이전트가 글을 함께 작성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4663440" y="3200400"/>
            <a:ext cx="3931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4663440" y="3200400"/>
            <a:ext cx="393192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4892040" y="34290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400" dirty="0"/>
          </a:p>
        </p:txBody>
      </p:sp>
      <p:sp>
        <p:nvSpPr>
          <p:cNvPr id="28" name="Shape 23"/>
          <p:cNvSpPr/>
          <p:nvPr/>
        </p:nvSpPr>
        <p:spPr>
          <a:xfrm>
            <a:off x="7818120" y="347472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8704" y="3575304"/>
            <a:ext cx="301752" cy="30175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4892040" y="4069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워크플로우 만들기</a:t>
            </a:r>
            <a:endParaRPr lang="en-US" sz="1700" dirty="0"/>
          </a:p>
        </p:txBody>
      </p:sp>
      <p:sp>
        <p:nvSpPr>
          <p:cNvPr id="31" name="Text 25"/>
          <p:cNvSpPr/>
          <p:nvPr/>
        </p:nvSpPr>
        <p:spPr>
          <a:xfrm>
            <a:off x="4892040" y="4389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에이전트를 순서대로 연결한 파이프라인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파일: maf_sample_scenarios.ipynb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용어 한눈에 정리</a:t>
            </a:r>
          </a:p>
        </p:txBody>
      </p:sp>
      <p:sp>
        <p:nvSpPr>
          <p:cNvPr id="3" name="Subtitle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헷갈릴 땐 언제든 이 페이지로 돌아와요</a:t>
            </a:r>
          </a:p>
        </p:txBody>
      </p:sp>
      <p:sp>
        <p:nvSpPr>
          <p:cNvPr id="10" name="Bar"/>
          <p:cNvSpPr/>
          <p:nvPr/>
        </p:nvSpPr>
        <p:spPr>
          <a:xfrm>
            <a:off x="457200" y="1560000"/>
            <a:ext cx="73152" cy="860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erm"/>
          <p:cNvSpPr/>
          <p:nvPr/>
        </p:nvSpPr>
        <p:spPr>
          <a:xfrm>
            <a:off x="637200" y="1560000"/>
            <a:ext cx="356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 (Agent)</a:t>
            </a:r>
          </a:p>
        </p:txBody>
      </p:sp>
      <p:sp>
        <p:nvSpPr>
          <p:cNvPr id="12" name="Def"/>
          <p:cNvSpPr/>
          <p:nvPr/>
        </p:nvSpPr>
        <p:spPr>
          <a:xfrm>
            <a:off x="637200" y="1960000"/>
            <a:ext cx="356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스스로 계획하고 도구를 써서 일을 해내는 AI</a:t>
            </a:r>
          </a:p>
        </p:txBody>
      </p:sp>
      <p:sp>
        <p:nvSpPr>
          <p:cNvPr id="13" name="Bar"/>
          <p:cNvSpPr/>
          <p:nvPr/>
        </p:nvSpPr>
        <p:spPr>
          <a:xfrm>
            <a:off x="4780000" y="1560000"/>
            <a:ext cx="73152" cy="860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Term"/>
          <p:cNvSpPr/>
          <p:nvPr/>
        </p:nvSpPr>
        <p:spPr>
          <a:xfrm>
            <a:off x="4960000" y="1560000"/>
            <a:ext cx="356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(거대 언어 모델)</a:t>
            </a:r>
          </a:p>
        </p:txBody>
      </p:sp>
      <p:sp>
        <p:nvSpPr>
          <p:cNvPr id="15" name="Def"/>
          <p:cNvSpPr/>
          <p:nvPr/>
        </p:nvSpPr>
        <p:spPr>
          <a:xfrm>
            <a:off x="4960000" y="1960000"/>
            <a:ext cx="356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방대한 글을 학습해 문장을 이해하고 만들어내는 AI의 두뇌</a:t>
            </a:r>
          </a:p>
        </p:txBody>
      </p:sp>
      <p:sp>
        <p:nvSpPr>
          <p:cNvPr id="16" name="Bar"/>
          <p:cNvSpPr/>
          <p:nvPr/>
        </p:nvSpPr>
        <p:spPr>
          <a:xfrm>
            <a:off x="457200" y="2620000"/>
            <a:ext cx="73152" cy="860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Term"/>
          <p:cNvSpPr/>
          <p:nvPr/>
        </p:nvSpPr>
        <p:spPr>
          <a:xfrm>
            <a:off x="637200" y="2620000"/>
            <a:ext cx="356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 (Tool)</a:t>
            </a:r>
          </a:p>
        </p:txBody>
      </p:sp>
      <p:sp>
        <p:nvSpPr>
          <p:cNvPr id="18" name="Def"/>
          <p:cNvSpPr/>
          <p:nvPr/>
        </p:nvSpPr>
        <p:spPr>
          <a:xfrm>
            <a:off x="637200" y="3020000"/>
            <a:ext cx="356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검색·계산·API처럼 AI가 불러서 쓰는 기능</a:t>
            </a:r>
          </a:p>
        </p:txBody>
      </p:sp>
      <p:sp>
        <p:nvSpPr>
          <p:cNvPr id="19" name="Bar"/>
          <p:cNvSpPr/>
          <p:nvPr/>
        </p:nvSpPr>
        <p:spPr>
          <a:xfrm>
            <a:off x="4780000" y="2620000"/>
            <a:ext cx="73152" cy="86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Term"/>
          <p:cNvSpPr/>
          <p:nvPr/>
        </p:nvSpPr>
        <p:spPr>
          <a:xfrm>
            <a:off x="4960000" y="2620000"/>
            <a:ext cx="356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워크플로우 (Workflow)</a:t>
            </a:r>
          </a:p>
        </p:txBody>
      </p:sp>
      <p:sp>
        <p:nvSpPr>
          <p:cNvPr id="21" name="Def"/>
          <p:cNvSpPr/>
          <p:nvPr/>
        </p:nvSpPr>
        <p:spPr>
          <a:xfrm>
            <a:off x="4960000" y="3020000"/>
            <a:ext cx="356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에이전트를 순서대로 연결한 작업 흐름</a:t>
            </a:r>
          </a:p>
        </p:txBody>
      </p:sp>
      <p:sp>
        <p:nvSpPr>
          <p:cNvPr id="22" name="Bar"/>
          <p:cNvSpPr/>
          <p:nvPr/>
        </p:nvSpPr>
        <p:spPr>
          <a:xfrm>
            <a:off x="457200" y="3680000"/>
            <a:ext cx="73152" cy="86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Term"/>
          <p:cNvSpPr/>
          <p:nvPr/>
        </p:nvSpPr>
        <p:spPr>
          <a:xfrm>
            <a:off x="637200" y="3680000"/>
            <a:ext cx="356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기억 (Memory)</a:t>
            </a:r>
          </a:p>
        </p:txBody>
      </p:sp>
      <p:sp>
        <p:nvSpPr>
          <p:cNvPr id="24" name="Def"/>
          <p:cNvSpPr/>
          <p:nvPr/>
        </p:nvSpPr>
        <p:spPr>
          <a:xfrm>
            <a:off x="637200" y="4080000"/>
            <a:ext cx="356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이전 대화 내용을 저장하고 다시 불러오는 능력</a:t>
            </a:r>
          </a:p>
        </p:txBody>
      </p:sp>
      <p:sp>
        <p:nvSpPr>
          <p:cNvPr id="25" name="Bar"/>
          <p:cNvSpPr/>
          <p:nvPr/>
        </p:nvSpPr>
        <p:spPr>
          <a:xfrm>
            <a:off x="4780000" y="3680000"/>
            <a:ext cx="73152" cy="860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Term"/>
          <p:cNvSpPr/>
          <p:nvPr/>
        </p:nvSpPr>
        <p:spPr>
          <a:xfrm>
            <a:off x="4960000" y="3680000"/>
            <a:ext cx="356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</a:p>
        </p:txBody>
      </p:sp>
      <p:sp>
        <p:nvSpPr>
          <p:cNvPr id="27" name="Def"/>
          <p:cNvSpPr/>
          <p:nvPr/>
        </p:nvSpPr>
        <p:spPr>
          <a:xfrm>
            <a:off x="4960000" y="4080000"/>
            <a:ext cx="356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도구를 표준 방식으로 연결해 주는 규약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에이전트, 안전하고 똑똑하게 쓰기</a:t>
            </a:r>
          </a:p>
        </p:txBody>
      </p:sp>
      <p:sp>
        <p:nvSpPr>
          <p:cNvPr id="3" name="Subtitle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편리한 도구인 만큼, 몇 가지는 꼭 기억해요</a:t>
            </a:r>
          </a:p>
        </p:txBody>
      </p:sp>
      <p:sp>
        <p:nvSpPr>
          <p:cNvPr id="10" name="Card"/>
          <p:cNvSpPr/>
          <p:nvPr/>
        </p:nvSpPr>
        <p:spPr>
          <a:xfrm>
            <a:off x="457200" y="1463040"/>
            <a:ext cx="3931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opBar"/>
          <p:cNvSpPr/>
          <p:nvPr/>
        </p:nvSpPr>
        <p:spPr>
          <a:xfrm>
            <a:off x="457200" y="1463040"/>
            <a:ext cx="393192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Num"/>
          <p:cNvSpPr/>
          <p:nvPr/>
        </p:nvSpPr>
        <p:spPr>
          <a:xfrm>
            <a:off x="685800" y="16916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</a:p>
        </p:txBody>
      </p:sp>
      <p:sp>
        <p:nvSpPr>
          <p:cNvPr id="13" name="CTitle"/>
          <p:cNvSpPr/>
          <p:nvPr/>
        </p:nvSpPr>
        <p:spPr>
          <a:xfrm>
            <a:off x="685800" y="2331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환각에 주의</a:t>
            </a:r>
          </a:p>
        </p:txBody>
      </p:sp>
      <p:sp>
        <p:nvSpPr>
          <p:cNvPr id="14" name="CDesc"/>
          <p:cNvSpPr/>
          <p:nvPr/>
        </p:nvSpPr>
        <p:spPr>
          <a:xfrm>
            <a:off x="685800" y="2643040"/>
            <a:ext cx="347472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AI는 자신 있게 틀린 답을 말하기도 해요. 중요한 내용은 꼭 다시 확인!</a:t>
            </a:r>
          </a:p>
        </p:txBody>
      </p:sp>
      <p:sp>
        <p:nvSpPr>
          <p:cNvPr id="15" name="Card"/>
          <p:cNvSpPr/>
          <p:nvPr/>
        </p:nvSpPr>
        <p:spPr>
          <a:xfrm>
            <a:off x="4663440" y="1463040"/>
            <a:ext cx="3931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opBar"/>
          <p:cNvSpPr/>
          <p:nvPr/>
        </p:nvSpPr>
        <p:spPr>
          <a:xfrm>
            <a:off x="4663440" y="1463040"/>
            <a:ext cx="393192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Num"/>
          <p:cNvSpPr/>
          <p:nvPr/>
        </p:nvSpPr>
        <p:spPr>
          <a:xfrm>
            <a:off x="4892040" y="16916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</a:p>
        </p:txBody>
      </p:sp>
      <p:sp>
        <p:nvSpPr>
          <p:cNvPr id="18" name="CTitle"/>
          <p:cNvSpPr/>
          <p:nvPr/>
        </p:nvSpPr>
        <p:spPr>
          <a:xfrm>
            <a:off x="4892040" y="2331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개인정보 보호</a:t>
            </a:r>
          </a:p>
        </p:txBody>
      </p:sp>
      <p:sp>
        <p:nvSpPr>
          <p:cNvPr id="19" name="CDesc"/>
          <p:cNvSpPr/>
          <p:nvPr/>
        </p:nvSpPr>
        <p:spPr>
          <a:xfrm>
            <a:off x="4892040" y="2643040"/>
            <a:ext cx="347472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이름·주소·비밀번호 같은 민감한 정보는 입력하지 않아요.</a:t>
            </a:r>
          </a:p>
        </p:txBody>
      </p:sp>
      <p:sp>
        <p:nvSpPr>
          <p:cNvPr id="20" name="Card"/>
          <p:cNvSpPr/>
          <p:nvPr/>
        </p:nvSpPr>
        <p:spPr>
          <a:xfrm>
            <a:off x="457200" y="3200400"/>
            <a:ext cx="3931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opBar"/>
          <p:cNvSpPr/>
          <p:nvPr/>
        </p:nvSpPr>
        <p:spPr>
          <a:xfrm>
            <a:off x="457200" y="3200400"/>
            <a:ext cx="3931920" cy="73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Num"/>
          <p:cNvSpPr/>
          <p:nvPr/>
        </p:nvSpPr>
        <p:spPr>
          <a:xfrm>
            <a:off x="685800" y="34290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</a:p>
        </p:txBody>
      </p:sp>
      <p:sp>
        <p:nvSpPr>
          <p:cNvPr id="23" name="CTitle"/>
          <p:cNvSpPr/>
          <p:nvPr/>
        </p:nvSpPr>
        <p:spPr>
          <a:xfrm>
            <a:off x="685800" y="4069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사람이 최종 확인</a:t>
            </a:r>
          </a:p>
        </p:txBody>
      </p:sp>
      <p:sp>
        <p:nvSpPr>
          <p:cNvPr id="24" name="CDesc"/>
          <p:cNvSpPr/>
          <p:nvPr/>
        </p:nvSpPr>
        <p:spPr>
          <a:xfrm>
            <a:off x="685800" y="4380400"/>
            <a:ext cx="347472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중요한 결정은 AI에게 맡기지 말고 사람이 함께 검토해요.</a:t>
            </a:r>
          </a:p>
        </p:txBody>
      </p:sp>
      <p:sp>
        <p:nvSpPr>
          <p:cNvPr id="25" name="Card"/>
          <p:cNvSpPr/>
          <p:nvPr/>
        </p:nvSpPr>
        <p:spPr>
          <a:xfrm>
            <a:off x="4663440" y="3200400"/>
            <a:ext cx="3931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opBar"/>
          <p:cNvSpPr/>
          <p:nvPr/>
        </p:nvSpPr>
        <p:spPr>
          <a:xfrm>
            <a:off x="4663440" y="3200400"/>
            <a:ext cx="39319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Num"/>
          <p:cNvSpPr/>
          <p:nvPr/>
        </p:nvSpPr>
        <p:spPr>
          <a:xfrm>
            <a:off x="4892040" y="34290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</a:p>
        </p:txBody>
      </p:sp>
      <p:sp>
        <p:nvSpPr>
          <p:cNvPr id="28" name="CTitle"/>
          <p:cNvSpPr/>
          <p:nvPr/>
        </p:nvSpPr>
        <p:spPr>
          <a:xfrm>
            <a:off x="4892040" y="4069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비용과 한계 이해</a:t>
            </a:r>
          </a:p>
        </p:txBody>
      </p:sp>
      <p:sp>
        <p:nvSpPr>
          <p:cNvPr id="29" name="CDesc"/>
          <p:cNvSpPr/>
          <p:nvPr/>
        </p:nvSpPr>
        <p:spPr>
          <a:xfrm>
            <a:off x="4892040" y="4380400"/>
            <a:ext cx="347472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도구·모델 사용엔 비용이 들고, 최신 정보는 부정확할 수 있어요.</a:t>
            </a:r>
          </a:p>
        </p:txBody>
      </p:sp>
      <p:sp>
        <p:nvSpPr>
          <p:cNvPr id="30" name="Caption"/>
          <p:cNvSpPr/>
          <p:nvPr/>
        </p:nvSpPr>
        <p:spPr>
          <a:xfrm>
            <a:off x="457200" y="4830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AI는 똑똑한 조수일 뿐, 마지막 판단은 언제나 사람의 몫이에요!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이제 직접 만들어 볼 시간!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작은 코드 한 줄이 똑똑한 AI가 되는 순간을 경험해 봐요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743200"/>
            <a:ext cx="228600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783080" y="2926080"/>
            <a:ext cx="548640" cy="5486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1952" y="3044952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3520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노트북 열기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14400" y="3840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샘플 .ipynb 실행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520440" y="2743200"/>
            <a:ext cx="228600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389120" y="2926080"/>
            <a:ext cx="548640" cy="5486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7992" y="3044952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20440" y="3520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따라하기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520440" y="3840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셀씩 실행해보기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126480" y="2743200"/>
            <a:ext cx="228600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995160" y="2926080"/>
            <a:ext cx="548640" cy="5486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4032" y="3044952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26480" y="3520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나만의 아이디어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126480" y="3840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응용 프로젝트 도전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궁금한 점이 있으면 언제든 질문하세요. 함께 만들어 봅시다!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1029</Words>
  <Application>Microsoft Office PowerPoint</Application>
  <PresentationFormat>On-screen Show (16:9)</PresentationFormat>
  <Paragraphs>231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Agent Framework 소개</dc:title>
  <dc:subject>PptxGenJS Presentation</dc:subject>
  <dc:creator>Microsoft Copilot</dc:creator>
  <cp:lastModifiedBy>Kate Mun (KYOUNGRAN)</cp:lastModifiedBy>
  <cp:revision>10</cp:revision>
  <dcterms:created xsi:type="dcterms:W3CDTF">2026-05-27T00:27:15Z</dcterms:created>
  <dcterms:modified xsi:type="dcterms:W3CDTF">2026-07-10T03:16:59Z</dcterms:modified>
</cp:coreProperties>
</file>